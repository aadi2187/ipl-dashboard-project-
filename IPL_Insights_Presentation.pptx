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SRH</c:v>
                  </c:pt>
                  <c:pt idx="1">
                    <c:v>CSK</c:v>
                  </c:pt>
                  <c:pt idx="2">
                    <c:v>RCB</c:v>
                  </c:pt>
                  <c:pt idx="3">
                    <c:v>KKR</c:v>
                  </c:pt>
                  <c:pt idx="4">
                    <c:v>RR</c:v>
                  </c:pt>
                  <c:pt idx="5">
                    <c:v>MI</c:v>
                  </c:pt>
                  <c:pt idx="6">
                    <c:v>DC</c:v>
                  </c:pt>
                  <c:pt idx="7">
                    <c:v>PBKS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69.2</c:v>
                </c:pt>
                <c:pt idx="1">
                  <c:v>66.7</c:v>
                </c:pt>
                <c:pt idx="2">
                  <c:v>54.5</c:v>
                </c:pt>
                <c:pt idx="3">
                  <c:v>53.8</c:v>
                </c:pt>
                <c:pt idx="4">
                  <c:v>50</c:v>
                </c:pt>
                <c:pt idx="5">
                  <c:v>38.5</c:v>
                </c:pt>
                <c:pt idx="6">
                  <c:v>35.7</c:v>
                </c:pt>
                <c:pt idx="7">
                  <c:v>33.3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runs per match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CSK</c:v>
                  </c:pt>
                  <c:pt idx="1">
                    <c:v>RCB</c:v>
                  </c:pt>
                  <c:pt idx="2">
                    <c:v>PBKS</c:v>
                  </c:pt>
                  <c:pt idx="3">
                    <c:v>KKR</c:v>
                  </c:pt>
                  <c:pt idx="4">
                    <c:v>SRH</c:v>
                  </c:pt>
                  <c:pt idx="5">
                    <c:v>RR</c:v>
                  </c:pt>
                  <c:pt idx="6">
                    <c:v>DC</c:v>
                  </c:pt>
                  <c:pt idx="7">
                    <c:v>MI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2.6</c:v>
                </c:pt>
                <c:pt idx="1">
                  <c:v>2</c:v>
                </c:pt>
                <c:pt idx="2">
                  <c:v>1.4</c:v>
                </c:pt>
                <c:pt idx="3">
                  <c:v>1.2</c:v>
                </c:pt>
                <c:pt idx="4">
                  <c:v>0.1</c:v>
                </c:pt>
                <c:pt idx="5">
                  <c:v>-1.1</c:v>
                </c:pt>
                <c:pt idx="6">
                  <c:v>-2</c:v>
                </c:pt>
                <c:pt idx="7">
                  <c:v>-3.4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V Kohli</c:v>
                  </c:pt>
                  <c:pt idx="1">
                    <c:v>Y Jaiswal</c:v>
                  </c:pt>
                  <c:pt idx="2">
                    <c:v>J Buttler</c:v>
                  </c:pt>
                  <c:pt idx="3">
                    <c:v>T Head</c:v>
                  </c:pt>
                  <c:pt idx="4">
                    <c:v>S Dube</c:v>
                  </c:pt>
                  <c:pt idx="5">
                    <c:v>H Klaasen</c:v>
                  </c:pt>
                  <c:pt idx="6">
                    <c:v>A Sharma</c:v>
                  </c:pt>
                  <c:pt idx="7">
                    <c:v>S Yadav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982</c:v>
                </c:pt>
                <c:pt idx="1">
                  <c:v>608</c:v>
                </c:pt>
                <c:pt idx="2">
                  <c:v>597</c:v>
                </c:pt>
                <c:pt idx="3">
                  <c:v>550</c:v>
                </c:pt>
                <c:pt idx="4">
                  <c:v>491</c:v>
                </c:pt>
                <c:pt idx="5">
                  <c:v>482</c:v>
                </c:pt>
                <c:pt idx="6">
                  <c:v>440</c:v>
                </c:pt>
                <c:pt idx="7">
                  <c:v>386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Wickets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 Bumrah</c:v>
                  </c:pt>
                  <c:pt idx="1">
                    <c:v>Arshdeep</c:v>
                  </c:pt>
                  <c:pt idx="2">
                    <c:v>D Chahar</c:v>
                  </c:pt>
                  <c:pt idx="3">
                    <c:v>S Narine</c:v>
                  </c:pt>
                  <c:pt idx="4">
                    <c:v>V Chakravarthy</c:v>
                  </c:pt>
                  <c:pt idx="5">
                    <c:v>T Boult</c:v>
                  </c:pt>
                  <c:pt idx="6">
                    <c:v>A Russell</c:v>
                  </c:pt>
                  <c:pt idx="7">
                    <c:v>K Yadav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19</c:v>
                </c:pt>
                <c:pt idx="2">
                  <c:v>17</c:v>
                </c:pt>
                <c:pt idx="3">
                  <c:v>16</c:v>
                </c:pt>
                <c:pt idx="4">
                  <c:v>15</c:v>
                </c:pt>
                <c:pt idx="5">
                  <c:v>13</c:v>
                </c:pt>
                <c:pt idx="6">
                  <c:v>11</c:v>
                </c:pt>
                <c:pt idx="7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Bengaluru</c:v>
                  </c:pt>
                  <c:pt idx="1">
                    <c:v>Chennai</c:v>
                  </c:pt>
                  <c:pt idx="2">
                    <c:v>Mohali</c:v>
                  </c:pt>
                  <c:pt idx="3">
                    <c:v>Kolkata</c:v>
                  </c:pt>
                  <c:pt idx="4">
                    <c:v>Delhi</c:v>
                  </c:pt>
                  <c:pt idx="5">
                    <c:v>Hyderabad</c:v>
                  </c:pt>
                  <c:pt idx="6">
                    <c:v>Mumbai</c:v>
                  </c:pt>
                  <c:pt idx="7">
                    <c:v>Jaipur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185.7</c:v>
                </c:pt>
                <c:pt idx="1">
                  <c:v>179.3</c:v>
                </c:pt>
                <c:pt idx="2">
                  <c:v>175.6</c:v>
                </c:pt>
                <c:pt idx="3">
                  <c:v>174.2</c:v>
                </c:pt>
                <c:pt idx="4">
                  <c:v>172.9</c:v>
                </c:pt>
                <c:pt idx="5">
                  <c:v>172.2</c:v>
                </c:pt>
                <c:pt idx="6">
                  <c:v>170.9</c:v>
                </c:pt>
                <c:pt idx="7">
                  <c:v>165.6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5"/>
          <c:min val="150"/>
        </c:scaling>
        <c:delete val="0"/>
        <c:axPos val="b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IPL 2025 Performance Insights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8C28"/>
                </a:solidFill>
              </a:rPr>
              <a:t>Teams, players and venues: what the data says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</a:rPr>
              <a:t>60 matches  |  8 teams  |  10 venues  |  22 Mar to 19 May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SRH 69.2%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51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Best win rate (9 of 13), CSK 66.7%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97280"/>
            <a:ext cx="64008" cy="1188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Kohli 982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51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Runs, avg 65.5, SR 162.6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97280"/>
            <a:ext cx="64008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Bumrah 25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7510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Wickets, economy 6.95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68880"/>
            <a:ext cx="64008" cy="1188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185.7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1226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Bengaluru avg score, highest venue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468880"/>
            <a:ext cx="64008" cy="1188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60% / 30%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1226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Home win rate / toss winners win rate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51760" cy="118872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468880"/>
            <a:ext cx="64008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2560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174.5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1226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Average innings score; only 3 scores of 200+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Batting depth does not guarantee wins: RCB scores the most per match but wins only 54.5%.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SRH and CSK lead; PBKS, DC and MI trail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SRH won 9 of 13 decided matches; CSK 8 of 12.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Bottom three (PBKS, DC, MI) each won under 40%.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Win % uses the 50 matches with a valid recorded winner.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Scoring does not equal winning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RCB has the highest average score (182.6) but also concedes the most (180.6).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PBKS has a positive run margin (+1.4) yet the lowest win rate.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SRH wins 69% with a margin near zero: close wins may be hard to repeat.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Kohli stands out: 1.6x the next batter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982 runs in 15 innings, average 65.5.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Most Man of the Match awards (4).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Buttler has the best average among top runs scorers (74.6 in 8 innings).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Finishers: Russell and Klaasen hit hardest</a:t>
            </a:r>
            <a:endParaRPr lang="en-US" sz="2400" dirty="0"/>
          </a:p>
        </p:txBody>
      </p:sp>
      <p:pic>
        <p:nvPicPr>
          <p:cNvPr id="4" name="Image 0" descr="c_s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39496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64008" cy="10972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188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189.7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7007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Andre Russell strike rate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331720"/>
            <a:ext cx="265176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2331720"/>
            <a:ext cx="64008" cy="10972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188.3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9352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Heinrich Klaasen strike rate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3566160"/>
            <a:ext cx="265176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3566160"/>
            <a:ext cx="64008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25.7%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41696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Share of runs from sixes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Players with 5+ innings. Wicketkeepers have the highest role strike rate (171).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Bumrah leads wickets; Kuldeep is the tightest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1887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Bumrah: 25 wickets, economy 6.95.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Kuldeep Yadav: best economy (4.60) over 20 overs.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Varun Chakravarthy: best bowling average (7.5).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Russell takes wickets but is costly (economy 9.00).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Bengaluru is the batter's ground; Jaipur the lowest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Spread of 20 runs between the highest and lowest 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Delhi and Mohali were won by the batting-first side in only 2 of 5 and 2 of 7 decided matches.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Venue samples are small (5 to 8 matches).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Toss is not decisive; home side won 60%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30% (15 of 50)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9339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Toss winners who won the match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4630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60% (30 of 50)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9339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Matches won by the home side (also bats first)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Winning the toss gave no edge this season.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Home advantage and batting first overlap in the data (Team1 is both), so they cannot be separated.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Plan around ground conditions rather than the toss.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Data quality issues to fix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10 of 60 matches list a winner who did not play (e.g. M047, M048, M051); excluded from win analysis.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Dashboard average strike rate is 106.7 because bowling-only rows count as 0. Correct value: 166.0.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Dashboard Economy KPI sums the column (613.4). Correct value: 7.08 runs per over.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Player rows cover about 3 players per match (178 wickets vs 799 team-level), so leaderboards are a sample.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RCB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516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Invest in bowling; batting is already the best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3716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188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MI, DC, PBKS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8516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Review death-over bowling and match-up planning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64008" cy="13716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743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Selection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061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Back high-SR finishers and economical spinners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51760"/>
            <a:ext cx="64008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743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Dashboard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4061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Use weighted SR and economy; validate the winner field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Set targets by venue: about 185 at Bengaluru, about 165 at Jaipur.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L">
  <a:themeElements>
    <a:clrScheme name="IPL">
      <a:dk1>
        <a:srgbClr val="1A1A1A"/>
      </a:dk1>
      <a:lt1>
        <a:srgbClr val="FFFFFF"/>
      </a:lt1>
      <a:dk2>
        <a:srgbClr val="0B1F3A"/>
      </a:dk2>
      <a:lt2>
        <a:srgbClr val="F2F4F8"/>
      </a:lt2>
      <a:accent1>
        <a:srgbClr val="0B1F3A"/>
      </a:accent1>
      <a:accent2>
        <a:srgbClr val="F28C28"/>
      </a:accent2>
      <a:accent3>
        <a:srgbClr val="1B998B"/>
      </a:accent3>
      <a:accent4>
        <a:srgbClr val="D64545"/>
      </a:accent4>
      <a:accent5>
        <a:srgbClr val="8A94A6"/>
      </a:accent5>
      <a:accent6>
        <a:srgbClr val="4A6FA5"/>
      </a:accent6>
      <a:hlink>
        <a:srgbClr val="0B1F3A"/>
      </a:hlink>
      <a:folHlink>
        <a:srgbClr val="8A94A6"/>
      </a:folHlink>
    </a:clrScheme>
    <a:fontScheme name="IP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2026-10-19T11:28:10Z</dcterms:created>
  <dcterms:modified xsi:type="dcterms:W3CDTF">2026-10-19T11:28:10Z</dcterms:modified>
</cp:coreProperties>
</file>